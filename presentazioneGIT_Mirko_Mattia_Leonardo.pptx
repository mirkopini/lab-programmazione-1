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6" r:id="rId8"/>
    <p:sldId id="267" r:id="rId9"/>
    <p:sldId id="258" r:id="rId10"/>
    <p:sldId id="263" r:id="rId11"/>
    <p:sldId id="270" r:id="rId12"/>
    <p:sldId id="271" r:id="rId13"/>
    <p:sldId id="264" r:id="rId14"/>
    <p:sldId id="269" r:id="rId15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8A71E-5D32-974D-9E59-8FF2A0FFF6CD}" v="1339" dt="2025-09-11T16:59:52.902"/>
    <p1510:client id="{620ECEBF-5F1F-2D90-4D44-2F1206194F42}" v="82" dt="2025-09-11T17:03:44.109"/>
    <p1510:client id="{9B416E55-F581-8128-2F04-4019C49D6EBD}" v="87" dt="2025-09-11T17:08:31.363"/>
    <p1510:client id="{F7412C92-2C63-0C74-FDED-B4DC44EBE121}" v="286" dt="2025-09-11T17:01:26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8E27E-CE6A-449C-98BC-4D430A711B78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892FB-3987-4C7C-9022-7C148FFDC27F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652323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CH"/>
              <a:t>GNU </a:t>
            </a:r>
            <a:r>
              <a:rPr lang="it-CH" sz="18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General Public License</a:t>
            </a:r>
            <a:endParaRPr lang="it-CH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92FB-3987-4C7C-9022-7C148FFDC27F}" type="slidenum">
              <a:rPr lang="it-CH" smtClean="0"/>
              <a:t>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644140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Creato</a:t>
            </a:r>
            <a:r>
              <a:rPr lang="en-US"/>
              <a:t> </a:t>
            </a:r>
            <a:r>
              <a:rPr lang="en-US" err="1"/>
              <a:t>parallelamente</a:t>
            </a:r>
            <a:r>
              <a:rPr lang="en-US"/>
              <a:t> a GIT</a:t>
            </a:r>
          </a:p>
          <a:p>
            <a:r>
              <a:rPr lang="en-US"/>
              <a:t>Nato </a:t>
            </a:r>
            <a:r>
              <a:rPr lang="en-US" err="1"/>
              <a:t>attorno</a:t>
            </a:r>
            <a:r>
              <a:rPr lang="en-US"/>
              <a:t> al 2000</a:t>
            </a:r>
          </a:p>
          <a:p>
            <a:r>
              <a:rPr lang="en-US"/>
              <a:t>DVCS (Distributed Version Control System)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92FB-3987-4C7C-9022-7C148FFDC27F}" type="slidenum">
              <a:rPr lang="it-CH" smtClean="0"/>
              <a:t>5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555081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GitHub è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piattaforma</a:t>
            </a:r>
            <a:r>
              <a:rPr lang="en-US"/>
              <a:t> online </a:t>
            </a:r>
            <a:r>
              <a:rPr lang="en-US" err="1"/>
              <a:t>basata</a:t>
            </a:r>
            <a:r>
              <a:rPr lang="en-US"/>
              <a:t> </a:t>
            </a:r>
            <a:r>
              <a:rPr lang="en-US" err="1"/>
              <a:t>su</a:t>
            </a:r>
            <a:r>
              <a:rPr lang="en-US"/>
              <a:t> git </a:t>
            </a:r>
            <a:r>
              <a:rPr lang="en-US" err="1"/>
              <a:t>che</a:t>
            </a:r>
            <a:r>
              <a:rPr lang="en-US"/>
              <a:t> </a:t>
            </a:r>
            <a:r>
              <a:rPr lang="en-US" err="1"/>
              <a:t>permette</a:t>
            </a:r>
            <a:r>
              <a:rPr lang="en-US"/>
              <a:t> </a:t>
            </a:r>
            <a:r>
              <a:rPr lang="en-US" err="1"/>
              <a:t>agli</a:t>
            </a:r>
            <a:r>
              <a:rPr lang="en-US"/>
              <a:t> </a:t>
            </a:r>
            <a:r>
              <a:rPr lang="en-US" err="1"/>
              <a:t>sviluppatori</a:t>
            </a:r>
            <a:r>
              <a:rPr lang="en-US"/>
              <a:t> di </a:t>
            </a:r>
            <a:r>
              <a:rPr lang="en-US" err="1"/>
              <a:t>creare</a:t>
            </a:r>
            <a:r>
              <a:rPr lang="en-US"/>
              <a:t>, </a:t>
            </a:r>
            <a:r>
              <a:rPr lang="en-US" err="1"/>
              <a:t>salvare</a:t>
            </a:r>
            <a:r>
              <a:rPr lang="en-US"/>
              <a:t>, </a:t>
            </a:r>
            <a:r>
              <a:rPr lang="en-US" err="1"/>
              <a:t>automatizzare</a:t>
            </a:r>
            <a:r>
              <a:rPr lang="en-US"/>
              <a:t> </a:t>
            </a:r>
            <a:r>
              <a:rPr lang="en-US" err="1"/>
              <a:t>processi</a:t>
            </a:r>
            <a:r>
              <a:rPr lang="en-US"/>
              <a:t> (test), </a:t>
            </a:r>
            <a:r>
              <a:rPr lang="en-US" err="1"/>
              <a:t>gestire</a:t>
            </a:r>
            <a:r>
              <a:rPr lang="en-US"/>
              <a:t> e </a:t>
            </a:r>
            <a:r>
              <a:rPr lang="en-US" err="1"/>
              <a:t>condividere</a:t>
            </a:r>
            <a:r>
              <a:rPr lang="en-US"/>
              <a:t> il proprio </a:t>
            </a:r>
            <a:r>
              <a:rPr lang="en-US" err="1"/>
              <a:t>codice</a:t>
            </a:r>
            <a:r>
              <a:rPr lang="en-US"/>
              <a:t> </a:t>
            </a:r>
            <a:r>
              <a:rPr lang="en-US" err="1"/>
              <a:t>sorgente</a:t>
            </a:r>
            <a:r>
              <a:rPr lang="en-US"/>
              <a:t> </a:t>
            </a:r>
            <a:r>
              <a:rPr lang="en-US" err="1"/>
              <a:t>all’interno</a:t>
            </a:r>
            <a:r>
              <a:rPr lang="en-US"/>
              <a:t> di un </a:t>
            </a:r>
            <a:r>
              <a:rPr lang="en-US" err="1"/>
              <a:t>gruppo</a:t>
            </a:r>
            <a:r>
              <a:rPr lang="en-US"/>
              <a:t> </a:t>
            </a:r>
            <a:r>
              <a:rPr lang="en-US" err="1"/>
              <a:t>attraverso</a:t>
            </a:r>
            <a:r>
              <a:rPr lang="en-US"/>
              <a:t> le repository, </a:t>
            </a:r>
            <a:r>
              <a:rPr lang="en-US" err="1"/>
              <a:t>facilitando</a:t>
            </a:r>
            <a:r>
              <a:rPr lang="en-US"/>
              <a:t> la </a:t>
            </a:r>
            <a:r>
              <a:rPr lang="en-US" err="1"/>
              <a:t>collaborazione</a:t>
            </a:r>
            <a:r>
              <a:rPr lang="en-US"/>
              <a:t> e il </a:t>
            </a:r>
            <a:r>
              <a:rPr lang="en-US" err="1"/>
              <a:t>controllo</a:t>
            </a:r>
            <a:r>
              <a:rPr lang="en-US"/>
              <a:t> </a:t>
            </a:r>
            <a:r>
              <a:rPr lang="en-US" err="1"/>
              <a:t>delle</a:t>
            </a:r>
            <a:r>
              <a:rPr lang="en-US"/>
              <a:t> </a:t>
            </a:r>
            <a:r>
              <a:rPr lang="en-US" err="1"/>
              <a:t>versioni</a:t>
            </a:r>
            <a:r>
              <a:rPr lang="en-US"/>
              <a:t>. </a:t>
            </a:r>
            <a:endParaRPr lang="it-IT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92FB-3987-4C7C-9022-7C148FFDC27F}" type="slidenum">
              <a:rPr lang="it-CH" smtClean="0"/>
              <a:t>7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493762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repository GitHub </a:t>
            </a:r>
            <a:r>
              <a:rPr lang="en-US" err="1"/>
              <a:t>sono</a:t>
            </a:r>
            <a:r>
              <a:rPr lang="en-US"/>
              <a:t> </a:t>
            </a:r>
            <a:r>
              <a:rPr lang="en-US" err="1"/>
              <a:t>archivi</a:t>
            </a:r>
            <a:r>
              <a:rPr lang="en-US"/>
              <a:t> </a:t>
            </a:r>
            <a:r>
              <a:rPr lang="en-US" err="1"/>
              <a:t>digitali</a:t>
            </a:r>
            <a:r>
              <a:rPr lang="en-US"/>
              <a:t> in cui </a:t>
            </a:r>
            <a:r>
              <a:rPr lang="en-US" err="1"/>
              <a:t>viene</a:t>
            </a:r>
            <a:r>
              <a:rPr lang="en-US"/>
              <a:t> </a:t>
            </a:r>
            <a:r>
              <a:rPr lang="en-US" err="1"/>
              <a:t>conservato</a:t>
            </a:r>
            <a:r>
              <a:rPr lang="en-US"/>
              <a:t> e </a:t>
            </a:r>
            <a:r>
              <a:rPr lang="en-US" err="1"/>
              <a:t>gestito</a:t>
            </a:r>
            <a:r>
              <a:rPr lang="en-US"/>
              <a:t> il </a:t>
            </a:r>
            <a:r>
              <a:rPr lang="en-US" err="1"/>
              <a:t>codice</a:t>
            </a:r>
            <a:r>
              <a:rPr lang="en-US"/>
              <a:t> </a:t>
            </a:r>
            <a:r>
              <a:rPr lang="en-US" err="1"/>
              <a:t>sorgente</a:t>
            </a:r>
            <a:r>
              <a:rPr lang="en-US"/>
              <a:t> di un </a:t>
            </a:r>
            <a:r>
              <a:rPr lang="en-US" err="1"/>
              <a:t>progetto</a:t>
            </a:r>
            <a:r>
              <a:rPr lang="en-US"/>
              <a:t> software e </a:t>
            </a:r>
            <a:r>
              <a:rPr lang="en-US" err="1"/>
              <a:t>che</a:t>
            </a:r>
            <a:r>
              <a:rPr lang="en-US"/>
              <a:t> </a:t>
            </a:r>
            <a:r>
              <a:rPr lang="en-US" err="1"/>
              <a:t>tengono</a:t>
            </a:r>
            <a:r>
              <a:rPr lang="en-US"/>
              <a:t> </a:t>
            </a:r>
            <a:r>
              <a:rPr lang="en-US" err="1"/>
              <a:t>traccia</a:t>
            </a:r>
            <a:r>
              <a:rPr lang="en-US"/>
              <a:t> </a:t>
            </a:r>
            <a:r>
              <a:rPr lang="en-US" err="1"/>
              <a:t>delle</a:t>
            </a:r>
            <a:r>
              <a:rPr lang="en-US"/>
              <a:t> </a:t>
            </a:r>
            <a:r>
              <a:rPr lang="en-US" err="1"/>
              <a:t>modifiche</a:t>
            </a:r>
            <a:r>
              <a:rPr lang="en-US"/>
              <a:t> </a:t>
            </a:r>
            <a:r>
              <a:rPr lang="en-US" err="1"/>
              <a:t>apportate</a:t>
            </a:r>
            <a:r>
              <a:rPr lang="en-US"/>
              <a:t> ai file </a:t>
            </a:r>
            <a:r>
              <a:rPr lang="en-US" err="1"/>
              <a:t>nel</a:t>
            </a:r>
            <a:r>
              <a:rPr lang="en-US"/>
              <a:t> </a:t>
            </a:r>
            <a:r>
              <a:rPr lang="en-US" err="1"/>
              <a:t>corso</a:t>
            </a:r>
            <a:r>
              <a:rPr lang="en-US"/>
              <a:t> tempo. Un repository </a:t>
            </a:r>
            <a:r>
              <a:rPr lang="en-US" err="1"/>
              <a:t>consente</a:t>
            </a:r>
            <a:r>
              <a:rPr lang="en-US"/>
              <a:t> di </a:t>
            </a:r>
            <a:r>
              <a:rPr lang="en-US" err="1"/>
              <a:t>recuperare</a:t>
            </a:r>
            <a:r>
              <a:rPr lang="en-US"/>
              <a:t> </a:t>
            </a:r>
            <a:r>
              <a:rPr lang="en-US" err="1"/>
              <a:t>versioni</a:t>
            </a:r>
            <a:r>
              <a:rPr lang="en-US"/>
              <a:t> </a:t>
            </a:r>
            <a:r>
              <a:rPr lang="en-US" err="1"/>
              <a:t>precedenti</a:t>
            </a:r>
            <a:r>
              <a:rPr lang="en-US"/>
              <a:t>, </a:t>
            </a:r>
            <a:r>
              <a:rPr lang="en-US" err="1"/>
              <a:t>confrontare</a:t>
            </a:r>
            <a:r>
              <a:rPr lang="en-US"/>
              <a:t> le </a:t>
            </a:r>
            <a:r>
              <a:rPr lang="en-US" err="1"/>
              <a:t>differenze</a:t>
            </a:r>
            <a:r>
              <a:rPr lang="en-US"/>
              <a:t> </a:t>
            </a:r>
            <a:r>
              <a:rPr lang="en-US" err="1"/>
              <a:t>tra</a:t>
            </a:r>
            <a:r>
              <a:rPr lang="en-US"/>
              <a:t> le </a:t>
            </a:r>
            <a:r>
              <a:rPr lang="en-US" err="1"/>
              <a:t>versioni</a:t>
            </a:r>
            <a:r>
              <a:rPr lang="en-US"/>
              <a:t> e </a:t>
            </a:r>
            <a:r>
              <a:rPr lang="en-US" err="1"/>
              <a:t>collaborare</a:t>
            </a:r>
            <a:r>
              <a:rPr lang="en-US"/>
              <a:t> </a:t>
            </a:r>
            <a:r>
              <a:rPr lang="en-US" err="1"/>
              <a:t>contemporaneamente</a:t>
            </a:r>
            <a:r>
              <a:rPr lang="en-US"/>
              <a:t> con </a:t>
            </a:r>
            <a:r>
              <a:rPr lang="en-US" err="1"/>
              <a:t>altri</a:t>
            </a:r>
            <a:r>
              <a:rPr lang="en-US"/>
              <a:t> </a:t>
            </a:r>
            <a:r>
              <a:rPr lang="en-US" err="1"/>
              <a:t>sviluppatori</a:t>
            </a:r>
            <a:r>
              <a:rPr lang="en-US"/>
              <a:t> in team senza </a:t>
            </a:r>
            <a:r>
              <a:rPr lang="en-US" err="1"/>
              <a:t>interferire</a:t>
            </a:r>
            <a:r>
              <a:rPr lang="en-US"/>
              <a:t> </a:t>
            </a:r>
            <a:r>
              <a:rPr lang="en-US" err="1"/>
              <a:t>gli</a:t>
            </a:r>
            <a:r>
              <a:rPr lang="en-US"/>
              <a:t> </a:t>
            </a:r>
            <a:r>
              <a:rPr lang="en-US" err="1"/>
              <a:t>uni</a:t>
            </a:r>
            <a:r>
              <a:rPr lang="en-US"/>
              <a:t> con </a:t>
            </a:r>
            <a:r>
              <a:rPr lang="en-US" err="1"/>
              <a:t>gli</a:t>
            </a:r>
            <a:r>
              <a:rPr lang="en-US"/>
              <a:t> </a:t>
            </a:r>
            <a:r>
              <a:rPr lang="en-US" err="1"/>
              <a:t>altri</a:t>
            </a:r>
            <a:r>
              <a:rPr lang="en-US"/>
              <a:t>.</a:t>
            </a:r>
            <a:endParaRPr lang="it-IT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92FB-3987-4C7C-9022-7C148FFDC27F}" type="slidenum">
              <a:rPr lang="it-CH" smtClean="0"/>
              <a:t>8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021354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it-CH" i="1" err="1"/>
              <a:t>git</a:t>
            </a:r>
            <a:r>
              <a:rPr lang="it-CH" i="1"/>
              <a:t> clone</a:t>
            </a:r>
            <a:r>
              <a:rPr lang="it-CH"/>
              <a:t> (copiare un repository remoto localmente)</a:t>
            </a:r>
            <a:endParaRPr lang="en-US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it-CH" i="1" err="1"/>
              <a:t>git</a:t>
            </a:r>
            <a:r>
              <a:rPr lang="it-CH" i="1"/>
              <a:t> pull </a:t>
            </a:r>
            <a:r>
              <a:rPr lang="it-CH"/>
              <a:t>(scaricare le modifiche da un repository remoto e aggiornare il repository locale)</a:t>
            </a:r>
            <a:endParaRPr lang="en-US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it-CH" i="1" err="1"/>
              <a:t>git</a:t>
            </a:r>
            <a:r>
              <a:rPr lang="it-CH" i="1"/>
              <a:t> </a:t>
            </a:r>
            <a:r>
              <a:rPr lang="it-CH" i="1" err="1"/>
              <a:t>push</a:t>
            </a:r>
            <a:r>
              <a:rPr lang="it-CH" i="1"/>
              <a:t> </a:t>
            </a:r>
            <a:r>
              <a:rPr lang="it-CH"/>
              <a:t>(caricare gli snapshot locali su un repository remoto)</a:t>
            </a:r>
            <a:endParaRPr lang="en-US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it-CH" i="1" err="1"/>
              <a:t>git</a:t>
            </a:r>
            <a:r>
              <a:rPr lang="it-CH" i="1"/>
              <a:t> </a:t>
            </a:r>
            <a:r>
              <a:rPr lang="it-CH" i="1" err="1"/>
              <a:t>add</a:t>
            </a:r>
            <a:r>
              <a:rPr lang="it-CH" i="1"/>
              <a:t> </a:t>
            </a:r>
            <a:r>
              <a:rPr lang="it-CH"/>
              <a:t>(viene utilizzato per aggiungere le modifiche che hai apportato ai file)</a:t>
            </a:r>
            <a:endParaRPr lang="en-US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it-CH"/>
              <a:t>Conflitti di versione (avvengono quando si tenta di unire o sincronizzare file che presentano modifiche in conflitto)</a:t>
            </a:r>
            <a:endParaRPr lang="en-US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it-CH"/>
              <a:t>.</a:t>
            </a:r>
            <a:r>
              <a:rPr lang="it-CH" err="1"/>
              <a:t>gitignore</a:t>
            </a:r>
            <a:r>
              <a:rPr lang="it-CH"/>
              <a:t> (Impedisce di inserire file non necessari, come i log o i file generati in fase di esecuzione)</a:t>
            </a:r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92FB-3987-4C7C-9022-7C148FFDC27F}" type="slidenum">
              <a:rPr lang="it-CH" smtClean="0"/>
              <a:t>10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703951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Impatto</a:t>
            </a:r>
            <a:r>
              <a:rPr lang="en-US" b="1"/>
              <a:t> di GitHub </a:t>
            </a:r>
            <a:r>
              <a:rPr lang="en-US" b="1" err="1"/>
              <a:t>nella</a:t>
            </a:r>
            <a:r>
              <a:rPr lang="en-US" b="1"/>
              <a:t> </a:t>
            </a:r>
            <a:r>
              <a:rPr lang="en-US" b="1" err="1"/>
              <a:t>comunità</a:t>
            </a:r>
            <a:r>
              <a:rPr lang="en-US" b="1"/>
              <a:t> </a:t>
            </a:r>
            <a:r>
              <a:rPr lang="en-US" b="1" err="1"/>
              <a:t>tecnologica</a:t>
            </a:r>
            <a:endParaRPr lang="it-IT" err="1"/>
          </a:p>
          <a:p>
            <a:r>
              <a:rPr lang="en-US"/>
              <a:t>GitHub </a:t>
            </a:r>
            <a:r>
              <a:rPr lang="en-US" err="1"/>
              <a:t>oltra</a:t>
            </a:r>
            <a:r>
              <a:rPr lang="en-US"/>
              <a:t> ad </a:t>
            </a:r>
            <a:r>
              <a:rPr lang="en-US" err="1"/>
              <a:t>essere</a:t>
            </a:r>
            <a:r>
              <a:rPr lang="en-US"/>
              <a:t> </a:t>
            </a:r>
            <a:r>
              <a:rPr lang="en-US" err="1"/>
              <a:t>popolato</a:t>
            </a:r>
            <a:r>
              <a:rPr lang="en-US"/>
              <a:t> da </a:t>
            </a:r>
            <a:r>
              <a:rPr lang="en-US" err="1"/>
              <a:t>numerosi</a:t>
            </a:r>
            <a:r>
              <a:rPr lang="en-US"/>
              <a:t> </a:t>
            </a:r>
            <a:r>
              <a:rPr lang="en-US" err="1"/>
              <a:t>utenti</a:t>
            </a:r>
            <a:r>
              <a:rPr lang="en-US"/>
              <a:t> di </a:t>
            </a:r>
            <a:r>
              <a:rPr lang="en-US" err="1"/>
              <a:t>spicco</a:t>
            </a:r>
            <a:r>
              <a:rPr lang="en-US"/>
              <a:t> come Google Microsoft e Apple, </a:t>
            </a:r>
            <a:r>
              <a:rPr lang="en-US" err="1"/>
              <a:t>Ospita</a:t>
            </a:r>
            <a:r>
              <a:rPr lang="en-US"/>
              <a:t> </a:t>
            </a:r>
            <a:r>
              <a:rPr lang="en-US" err="1"/>
              <a:t>decine</a:t>
            </a:r>
            <a:r>
              <a:rPr lang="en-US"/>
              <a:t> di </a:t>
            </a:r>
            <a:r>
              <a:rPr lang="en-US" err="1"/>
              <a:t>milioni</a:t>
            </a:r>
            <a:r>
              <a:rPr lang="en-US"/>
              <a:t> di repository, </a:t>
            </a:r>
            <a:r>
              <a:rPr lang="en-US" err="1"/>
              <a:t>molti</a:t>
            </a:r>
            <a:r>
              <a:rPr lang="en-US"/>
              <a:t> </a:t>
            </a:r>
            <a:r>
              <a:rPr lang="en-US" err="1"/>
              <a:t>dei</a:t>
            </a:r>
            <a:r>
              <a:rPr lang="en-US"/>
              <a:t> </a:t>
            </a:r>
            <a:r>
              <a:rPr lang="en-US" err="1"/>
              <a:t>quali</a:t>
            </a:r>
            <a:r>
              <a:rPr lang="en-US"/>
              <a:t> open source. Grazie a </a:t>
            </a:r>
            <a:r>
              <a:rPr lang="en-US" err="1"/>
              <a:t>ciò</a:t>
            </a:r>
            <a:r>
              <a:rPr lang="en-US"/>
              <a:t> </a:t>
            </a:r>
            <a:r>
              <a:rPr lang="en-US" err="1"/>
              <a:t>chiunque</a:t>
            </a:r>
            <a:r>
              <a:rPr lang="en-US"/>
              <a:t> </a:t>
            </a:r>
            <a:r>
              <a:rPr lang="en-US" err="1"/>
              <a:t>può</a:t>
            </a:r>
            <a:r>
              <a:rPr lang="en-US"/>
              <a:t> </a:t>
            </a:r>
            <a:r>
              <a:rPr lang="en-US" err="1"/>
              <a:t>vedere</a:t>
            </a:r>
            <a:r>
              <a:rPr lang="en-US"/>
              <a:t>, </a:t>
            </a:r>
            <a:r>
              <a:rPr lang="en-US" err="1"/>
              <a:t>testare</a:t>
            </a:r>
            <a:r>
              <a:rPr lang="en-US"/>
              <a:t> e </a:t>
            </a:r>
            <a:r>
              <a:rPr lang="en-US" err="1"/>
              <a:t>migliorare</a:t>
            </a:r>
            <a:r>
              <a:rPr lang="en-US"/>
              <a:t> il </a:t>
            </a:r>
            <a:r>
              <a:rPr lang="en-US" err="1"/>
              <a:t>codice</a:t>
            </a:r>
            <a:r>
              <a:rPr lang="en-US"/>
              <a:t> </a:t>
            </a:r>
            <a:r>
              <a:rPr lang="en-US" err="1"/>
              <a:t>favorendo</a:t>
            </a:r>
            <a:r>
              <a:rPr lang="en-US"/>
              <a:t> la </a:t>
            </a:r>
            <a:r>
              <a:rPr lang="en-US" err="1"/>
              <a:t>trasparenza</a:t>
            </a:r>
            <a:r>
              <a:rPr lang="en-US"/>
              <a:t>, </a:t>
            </a:r>
            <a:r>
              <a:rPr lang="en-US" err="1"/>
              <a:t>l’innovazione</a:t>
            </a:r>
            <a:r>
              <a:rPr lang="en-US"/>
              <a:t> </a:t>
            </a:r>
            <a:r>
              <a:rPr lang="en-US" err="1"/>
              <a:t>rapida</a:t>
            </a:r>
            <a:r>
              <a:rPr lang="en-US"/>
              <a:t> e la </a:t>
            </a:r>
            <a:r>
              <a:rPr lang="en-US" err="1"/>
              <a:t>conoscenza</a:t>
            </a:r>
            <a:r>
              <a:rPr lang="en-US"/>
              <a:t>.</a:t>
            </a:r>
            <a:endParaRPr lang="it-IT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92FB-3987-4C7C-9022-7C148FFDC27F}" type="slidenum">
              <a:rPr lang="it-CH" smtClean="0"/>
              <a:t>11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364428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Ecco qualche progetto ospitato da github: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en-US"/>
              <a:t>VS code editor di codice open source sviluppato da Microsoft, tra i più usati al mondo.</a:t>
            </a:r>
            <a:br>
              <a:rPr lang="en-US"/>
            </a:br>
            <a:r>
              <a:rPr lang="en-US"/>
              <a:t> il suo codice sorgente è pubblico, quindi chiunche può contribuire segnalando bug o sviluppando nuove funzionalità.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en-US"/>
              <a:t>React che è la libreria JavaScript creata da Meta per costruire interfacce utente dinamiche, anche qui la community contribuisce continuamente con aggiornamenti, correzioni e nuove feature.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en-US"/>
              <a:t>Il Kernel di Linux ovvero il cuore del sistema operativo linux, software che si occupa di gestire l’hardware e le risorse del computer, è mantenuto nella repository di Linus Torvalds e migliaia di aziende e community contribuiscono con patch e nuove funzionalità.</a:t>
            </a:r>
            <a:endParaRPr lang="it-IT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92FB-3987-4C7C-9022-7C148FFDC27F}" type="slidenum">
              <a:rPr lang="it-CH" smtClean="0"/>
              <a:t>12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633175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A0205B-C5C2-E201-A8C7-C3CD32B35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ED4C062-275A-8E89-9C81-BE514E57C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FE8554-72A3-9A3D-65E0-7CB0E383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83DBF2-58D2-F19E-8CC3-8F4F1322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6412F8B-663D-B0EF-2EB3-0D1623BA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527743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E85E2B-95C8-C087-3517-5D4B4451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F24A91-A8CC-FDB2-E4EA-211EB0395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7203996-C219-F8CC-72D2-B2580127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A38CD21-53D5-D592-C1A1-9785916E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39687B-6C79-E2F4-2B55-496C1389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03220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5DD4F5-694E-EE5D-9474-42B322CFF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81CC4FB-802D-3C69-1DBB-609936C25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1DAD41-096B-042C-B25F-1E43B4EC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69A9A9-882C-0959-4B6C-96F011204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0F27CEA-A2C8-2505-B9AF-0BB1CF6B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673935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A3FC65-83A6-5775-7791-7B5C4988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167D7D-1539-4EA8-C496-8386752A3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F569B2F-041B-A18D-86B8-7C5B85527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C1F273-360C-E926-4009-5EF8FC62B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C7295C1-517D-D413-7017-20915750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2B2B32F-78EA-D217-6927-C61C9BCE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165685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AE57F6-5D4E-3E7C-0703-7732BA5F2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91F7588-4B8A-B6E3-0A2C-206B4BF23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AC000C6-CE01-85A7-9B0C-AC4D63FF8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4B7B2A8-AC8B-C8B7-EA30-55EB0F2E3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488A45D-878A-FD1B-8F37-ADDDC8083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03C60AC-E6AE-8D75-909B-62E715A94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676D499-196D-685E-6778-143124B6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8B249AE-FAF9-325D-BCD9-2149BF53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19494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5436A0-6254-C7F1-8CFC-18F5C25A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B896CBC-9DAF-43ED-5835-B2E17C7E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EEDF9CC-BA01-B7AC-B6E0-8CB22A925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BCB7805-E735-DE19-D153-40B52630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8973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479213-3AC9-79DB-9BDD-E2BD4D8C8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C1115C2-3B0E-29F8-FD9D-F9E027857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7DCB3C5-BB92-6C8B-E96A-2AE7C759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16840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BC007E-33DC-D829-8863-C431A7E80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B9151B-5426-6162-358E-CDEF475AE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B0E4C8B-63B9-D3D5-C87A-1D74AF430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E371BA5-3542-16F8-E9E1-F54E0ADA7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EBD8B45-6679-F704-C413-352C5A4C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03FAD09-55C0-20DD-B04B-CB55E61C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36578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39F186-94CE-4772-9249-DB152707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6AB9E80-705D-5515-D983-72FF89F78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A2BA9F8-547E-242C-BD34-6CE933C0E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1FAFB18-C07F-CEB4-AA1E-A845F92B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EBA65B0-CDA1-32D3-92F9-3047DD6E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DAA637D-1DF9-42F5-77B8-193DE0EA5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9198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55C610-98E8-3568-2A35-AD632DBD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4ED409F-1FA8-1894-40E3-CE01F91C4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26E758-2344-6B71-C24A-D894553D6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281BF17-AFED-3C7A-EC50-D23F3CA92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084F6A-5631-5BF2-752B-B10189FF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5093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4C4A8AC-4F1B-AAC9-F1AC-050DE49D47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CBB1126-2B63-AF7A-CDB1-B26A4AC53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8A9981-8019-1A36-80FF-263FD4E3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B7C46B-7A7A-5989-E94B-36A0983D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968FC86-4203-9C09-F621-2A392D26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62170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78662C-6644-BB73-7497-119429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7EDBFFA-5AE5-F1DC-A42C-63F6053D6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F404E14-636C-4D59-2C42-753B480DA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ED9EB-46E3-465D-B743-191F96168CC0}" type="datetimeFigureOut">
              <a:rPr lang="it-CH" smtClean="0"/>
              <a:t>12.09.2025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030A28-8C4D-778C-C711-C66B78209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7C6DACC-384C-7F20-EA8D-A18C74386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96FE6-3192-43F6-86D8-331B084ED1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512623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6A1D56B-B37F-D48F-6821-B54124D73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2170" y="715866"/>
            <a:ext cx="8739574" cy="4098560"/>
          </a:xfrm>
        </p:spPr>
        <p:txBody>
          <a:bodyPr anchor="t">
            <a:normAutofit/>
          </a:bodyPr>
          <a:lstStyle/>
          <a:p>
            <a:pPr algn="r"/>
            <a:r>
              <a:rPr lang="fr-CH" sz="7200">
                <a:solidFill>
                  <a:srgbClr val="FFFFFF"/>
                </a:solidFill>
              </a:rPr>
              <a:t>GitHub e Version Control</a:t>
            </a:r>
            <a:endParaRPr lang="it-CH" sz="7200">
              <a:solidFill>
                <a:srgbClr val="FFFFFF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B268491-AFCB-0209-BE3D-DABE472D9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it-CH" sz="2000" kern="10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Mirko Pini, Leonardo Carlino, Mattia Cantoni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380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54BEFB-1766-2CF7-2A4A-8E28C82E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fr-CH">
                <a:solidFill>
                  <a:srgbClr val="FFFFFF"/>
                </a:solidFill>
              </a:rPr>
              <a:t>Version Control</a:t>
            </a:r>
            <a:endParaRPr lang="it-CH">
              <a:solidFill>
                <a:srgbClr val="FFFFFF"/>
              </a:solidFill>
            </a:endParaRP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4F95A96C-6935-85F4-6F88-0493FFA1B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951" y="1638769"/>
            <a:ext cx="5917979" cy="419231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it-CH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CH"/>
              <a:t>Sistema software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CH"/>
              <a:t>Monitora le modifiche al codice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CH"/>
              <a:t>Traccia cambiamenti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CH"/>
              <a:t>Recupero versioni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CH"/>
              <a:t>Automatizzare processi 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CH"/>
              <a:t>Collaborare senza conflitti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17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1DE5980-D8FB-E496-EA04-F14B3F94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944" y="1153572"/>
            <a:ext cx="3895697" cy="4461163"/>
          </a:xfrm>
        </p:spPr>
        <p:txBody>
          <a:bodyPr>
            <a:normAutofit/>
          </a:bodyPr>
          <a:lstStyle/>
          <a:p>
            <a:r>
              <a:rPr lang="fr-CH">
                <a:solidFill>
                  <a:srgbClr val="FFFFFF"/>
                </a:solidFill>
              </a:rPr>
              <a:t>CVS (</a:t>
            </a:r>
            <a:r>
              <a:rPr lang="it-CH">
                <a:solidFill>
                  <a:srgbClr val="FFFFFF"/>
                </a:solidFill>
              </a:rPr>
              <a:t>Concurrent Versions System)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3351A0-9835-A9A8-0DD7-998E5A645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it-CH"/>
              <a:t>19.10.1990 prima versione</a:t>
            </a:r>
          </a:p>
          <a:p>
            <a:r>
              <a:rPr lang="it-CH"/>
              <a:t>Ultima versione beta 01.12.2013</a:t>
            </a:r>
          </a:p>
          <a:p>
            <a:r>
              <a:rPr lang="it-CH"/>
              <a:t>Ultima versione 01.11.2023</a:t>
            </a:r>
          </a:p>
          <a:p>
            <a:r>
              <a:rPr lang="it-CH"/>
              <a:t>Linguaggio C</a:t>
            </a:r>
          </a:p>
          <a:p>
            <a:r>
              <a:rPr lang="it-CH"/>
              <a:t>Licenza GNU</a:t>
            </a:r>
          </a:p>
        </p:txBody>
      </p:sp>
    </p:spTree>
    <p:extLst>
      <p:ext uri="{BB962C8B-B14F-4D97-AF65-F5344CB8AC3E}">
        <p14:creationId xmlns:p14="http://schemas.microsoft.com/office/powerpoint/2010/main" val="4067119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90A75C4-8C20-7EC6-315B-A157C409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704" y="1153572"/>
            <a:ext cx="3487530" cy="4461163"/>
          </a:xfrm>
        </p:spPr>
        <p:txBody>
          <a:bodyPr>
            <a:normAutofit/>
          </a:bodyPr>
          <a:lstStyle/>
          <a:p>
            <a:r>
              <a:rPr lang="it-CH">
                <a:solidFill>
                  <a:srgbClr val="FFFFFF"/>
                </a:solidFill>
              </a:rPr>
              <a:t>Subversion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635C07-1B9C-E704-3E2C-ACF3474FC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656" y="1154561"/>
            <a:ext cx="6906491" cy="5585619"/>
          </a:xfrm>
        </p:spPr>
        <p:txBody>
          <a:bodyPr anchor="ctr">
            <a:normAutofit/>
          </a:bodyPr>
          <a:lstStyle/>
          <a:p>
            <a:r>
              <a:rPr lang="fr-CH" err="1"/>
              <a:t>Creato</a:t>
            </a:r>
            <a:r>
              <a:rPr lang="fr-CH"/>
              <a:t> da </a:t>
            </a:r>
            <a:r>
              <a:rPr lang="fr-CH" err="1"/>
              <a:t>CollabNet</a:t>
            </a:r>
            <a:r>
              <a:rPr lang="fr-CH"/>
              <a:t> </a:t>
            </a:r>
            <a:r>
              <a:rPr lang="fr-CH" err="1"/>
              <a:t>nel</a:t>
            </a:r>
            <a:r>
              <a:rPr lang="fr-CH"/>
              <a:t> 2000</a:t>
            </a:r>
          </a:p>
          <a:p>
            <a:r>
              <a:rPr lang="fr-CH"/>
              <a:t>2001 proprio </a:t>
            </a:r>
            <a:r>
              <a:rPr lang="fr-CH" err="1"/>
              <a:t>codice</a:t>
            </a:r>
            <a:r>
              <a:rPr lang="fr-CH"/>
              <a:t> </a:t>
            </a:r>
            <a:r>
              <a:rPr lang="fr-CH" err="1"/>
              <a:t>sorgente</a:t>
            </a:r>
            <a:r>
              <a:rPr lang="fr-CH"/>
              <a:t>.</a:t>
            </a:r>
          </a:p>
          <a:p>
            <a:r>
              <a:rPr lang="fr-CH" err="1"/>
              <a:t>Febbraio</a:t>
            </a:r>
            <a:r>
              <a:rPr lang="fr-CH"/>
              <a:t> 2004 </a:t>
            </a:r>
            <a:r>
              <a:rPr lang="fr-CH" err="1"/>
              <a:t>versione</a:t>
            </a:r>
            <a:r>
              <a:rPr lang="fr-CH"/>
              <a:t> 1.0</a:t>
            </a:r>
          </a:p>
          <a:p>
            <a:r>
              <a:rPr lang="fr-CH"/>
              <a:t>2009 </a:t>
            </a:r>
            <a:r>
              <a:rPr lang="fr-CH" err="1"/>
              <a:t>accettato</a:t>
            </a:r>
            <a:r>
              <a:rPr lang="fr-CH"/>
              <a:t> </a:t>
            </a:r>
            <a:r>
              <a:rPr lang="fr-CH" err="1"/>
              <a:t>nell’apache</a:t>
            </a:r>
            <a:r>
              <a:rPr lang="fr-CH"/>
              <a:t> </a:t>
            </a:r>
            <a:r>
              <a:rPr lang="fr-CH" err="1"/>
              <a:t>Incubator</a:t>
            </a:r>
            <a:endParaRPr lang="fr-CH"/>
          </a:p>
          <a:p>
            <a:r>
              <a:rPr lang="fr-CH"/>
              <a:t>17.02.2010 1° </a:t>
            </a:r>
            <a:r>
              <a:rPr lang="fr-CH" err="1"/>
              <a:t>livello</a:t>
            </a:r>
            <a:r>
              <a:rPr lang="fr-CH"/>
              <a:t> Apache </a:t>
            </a:r>
            <a:r>
              <a:rPr lang="fr-CH" err="1"/>
              <a:t>Incubator</a:t>
            </a:r>
            <a:endParaRPr lang="fr-CH"/>
          </a:p>
          <a:p>
            <a:endParaRPr lang="fr-CH"/>
          </a:p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52427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Mercurial Logo">
            <a:extLst>
              <a:ext uri="{FF2B5EF4-FFF2-40B4-BE49-F238E27FC236}">
                <a16:creationId xmlns:a16="http://schemas.microsoft.com/office/drawing/2014/main" id="{EAA8CA9B-A0EB-439A-84C6-E3FD31F53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4988" y="1407619"/>
            <a:ext cx="3368969" cy="404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577B0F-34E1-68C0-0D20-2298601DD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457201"/>
            <a:ext cx="5337270" cy="1835911"/>
          </a:xfrm>
        </p:spPr>
        <p:txBody>
          <a:bodyPr anchor="b">
            <a:normAutofit/>
          </a:bodyPr>
          <a:lstStyle/>
          <a:p>
            <a:r>
              <a:rPr lang="it-CH">
                <a:solidFill>
                  <a:srgbClr val="FFFFFF"/>
                </a:solidFill>
              </a:rPr>
              <a:t>Mercurial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onnsiteX0" fmla="*/ 0 w 5029200"/>
              <a:gd name="connsiteY0" fmla="*/ 0 h 18288"/>
              <a:gd name="connsiteX1" fmla="*/ 528066 w 5029200"/>
              <a:gd name="connsiteY1" fmla="*/ 0 h 18288"/>
              <a:gd name="connsiteX2" fmla="*/ 1207008 w 5029200"/>
              <a:gd name="connsiteY2" fmla="*/ 0 h 18288"/>
              <a:gd name="connsiteX3" fmla="*/ 1785366 w 5029200"/>
              <a:gd name="connsiteY3" fmla="*/ 0 h 18288"/>
              <a:gd name="connsiteX4" fmla="*/ 2313432 w 5029200"/>
              <a:gd name="connsiteY4" fmla="*/ 0 h 18288"/>
              <a:gd name="connsiteX5" fmla="*/ 2992374 w 5029200"/>
              <a:gd name="connsiteY5" fmla="*/ 0 h 18288"/>
              <a:gd name="connsiteX6" fmla="*/ 3621024 w 5029200"/>
              <a:gd name="connsiteY6" fmla="*/ 0 h 18288"/>
              <a:gd name="connsiteX7" fmla="*/ 4249674 w 5029200"/>
              <a:gd name="connsiteY7" fmla="*/ 0 h 18288"/>
              <a:gd name="connsiteX8" fmla="*/ 5029200 w 5029200"/>
              <a:gd name="connsiteY8" fmla="*/ 0 h 18288"/>
              <a:gd name="connsiteX9" fmla="*/ 5029200 w 5029200"/>
              <a:gd name="connsiteY9" fmla="*/ 18288 h 18288"/>
              <a:gd name="connsiteX10" fmla="*/ 4501134 w 5029200"/>
              <a:gd name="connsiteY10" fmla="*/ 18288 h 18288"/>
              <a:gd name="connsiteX11" fmla="*/ 4023360 w 5029200"/>
              <a:gd name="connsiteY11" fmla="*/ 18288 h 18288"/>
              <a:gd name="connsiteX12" fmla="*/ 3344418 w 5029200"/>
              <a:gd name="connsiteY12" fmla="*/ 18288 h 18288"/>
              <a:gd name="connsiteX13" fmla="*/ 2816352 w 5029200"/>
              <a:gd name="connsiteY13" fmla="*/ 18288 h 18288"/>
              <a:gd name="connsiteX14" fmla="*/ 2137410 w 5029200"/>
              <a:gd name="connsiteY14" fmla="*/ 18288 h 18288"/>
              <a:gd name="connsiteX15" fmla="*/ 1408176 w 5029200"/>
              <a:gd name="connsiteY15" fmla="*/ 18288 h 18288"/>
              <a:gd name="connsiteX16" fmla="*/ 829818 w 5029200"/>
              <a:gd name="connsiteY16" fmla="*/ 18288 h 18288"/>
              <a:gd name="connsiteX17" fmla="*/ 0 w 5029200"/>
              <a:gd name="connsiteY17" fmla="*/ 18288 h 18288"/>
              <a:gd name="connsiteX18" fmla="*/ 0 w 5029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E7BD93-53AF-699E-DE06-1A26C57C2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354" y="2798064"/>
            <a:ext cx="5461095" cy="34176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H" sz="2200">
                <a:solidFill>
                  <a:srgbClr val="FFFFFF"/>
                </a:solidFill>
              </a:rPr>
              <a:t>Creato da Matt Mackall</a:t>
            </a:r>
          </a:p>
          <a:p>
            <a:r>
              <a:rPr lang="fr-CH" sz="2200">
                <a:solidFill>
                  <a:srgbClr val="FFFFFF"/>
                </a:solidFill>
              </a:rPr>
              <a:t>Contesto competitivo</a:t>
            </a:r>
          </a:p>
          <a:p>
            <a:r>
              <a:rPr lang="fr-CH" sz="2200">
                <a:solidFill>
                  <a:srgbClr val="FFFFFF"/>
                </a:solidFill>
              </a:rPr>
              <a:t>2005 rilasciato</a:t>
            </a:r>
          </a:p>
          <a:p>
            <a:r>
              <a:rPr lang="it-CH" sz="2200">
                <a:solidFill>
                  <a:srgbClr val="FFFFFF"/>
                </a:solidFill>
              </a:rPr>
              <a:t>DVCS (Distributed Version Control System)</a:t>
            </a:r>
          </a:p>
          <a:p>
            <a:endParaRPr lang="it-CH" sz="2200">
              <a:solidFill>
                <a:srgbClr val="FFFFFF"/>
              </a:solidFill>
            </a:endParaRPr>
          </a:p>
          <a:p>
            <a:endParaRPr lang="fr-CH" sz="2200">
              <a:solidFill>
                <a:srgbClr val="FFFFFF"/>
              </a:solidFill>
            </a:endParaRPr>
          </a:p>
          <a:p>
            <a:endParaRPr lang="it-CH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618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E6F89FE-1289-A2C4-0341-2D93299BE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fr-CH">
                <a:solidFill>
                  <a:srgbClr val="FFFFFF"/>
                </a:solidFill>
              </a:rPr>
              <a:t>Git</a:t>
            </a:r>
            <a:endParaRPr lang="it-CH">
              <a:solidFill>
                <a:srgbClr val="FFFFFF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07390C-7F3F-84BC-E0D4-6177AC8C2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fr-CH"/>
              <a:t>Sviluppatori: Linus Torvalds poi Junio Hamano</a:t>
            </a:r>
          </a:p>
          <a:p>
            <a:r>
              <a:rPr lang="fr-CH"/>
              <a:t>08.04.2005 prima </a:t>
            </a:r>
            <a:r>
              <a:rPr lang="fr-CH" err="1"/>
              <a:t>versione</a:t>
            </a:r>
            <a:endParaRPr lang="fr-CH"/>
          </a:p>
          <a:p>
            <a:r>
              <a:rPr lang="fr-CH"/>
              <a:t>18.08.2025 </a:t>
            </a:r>
            <a:r>
              <a:rPr lang="fr-CH" err="1"/>
              <a:t>ultima</a:t>
            </a:r>
            <a:r>
              <a:rPr lang="fr-CH"/>
              <a:t> </a:t>
            </a:r>
            <a:r>
              <a:rPr lang="fr-CH" err="1"/>
              <a:t>versione</a:t>
            </a:r>
            <a:endParaRPr lang="fr-CH"/>
          </a:p>
          <a:p>
            <a:r>
              <a:rPr lang="fr-CH" err="1"/>
              <a:t>Sistema</a:t>
            </a:r>
            <a:r>
              <a:rPr lang="fr-CH"/>
              <a:t> di </a:t>
            </a:r>
            <a:r>
              <a:rPr lang="fr-CH" err="1"/>
              <a:t>controllo</a:t>
            </a:r>
            <a:r>
              <a:rPr lang="fr-CH"/>
              <a:t> </a:t>
            </a:r>
            <a:r>
              <a:rPr lang="fr-CH" err="1"/>
              <a:t>versione</a:t>
            </a:r>
            <a:endParaRPr lang="fr-CH"/>
          </a:p>
          <a:p>
            <a:r>
              <a:rPr lang="fr-CH" err="1"/>
              <a:t>Traccia</a:t>
            </a:r>
            <a:r>
              <a:rPr lang="fr-CH"/>
              <a:t> </a:t>
            </a:r>
            <a:r>
              <a:rPr lang="fr-CH" err="1"/>
              <a:t>modifiche</a:t>
            </a:r>
            <a:r>
              <a:rPr lang="fr-CH"/>
              <a:t> </a:t>
            </a:r>
            <a:r>
              <a:rPr lang="fr-CH" err="1"/>
              <a:t>nel</a:t>
            </a:r>
            <a:r>
              <a:rPr lang="fr-CH"/>
              <a:t> tempo</a:t>
            </a:r>
          </a:p>
        </p:txBody>
      </p:sp>
    </p:spTree>
    <p:extLst>
      <p:ext uri="{BB962C8B-B14F-4D97-AF65-F5344CB8AC3E}">
        <p14:creationId xmlns:p14="http://schemas.microsoft.com/office/powerpoint/2010/main" val="759589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B301C13-6967-3023-0852-A3535889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GitHub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0C5796-3F07-EF02-9E5F-54CAA5D88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>
                <a:ea typeface="+mn-lt"/>
                <a:cs typeface="+mn-lt"/>
              </a:rPr>
              <a:t>Piattaforma online per sviluppatori</a:t>
            </a:r>
          </a:p>
          <a:p>
            <a:r>
              <a:rPr lang="it-IT"/>
              <a:t>Basata su GIT per il controllo delle versioni</a:t>
            </a:r>
          </a:p>
          <a:p>
            <a:r>
              <a:rPr lang="it-IT"/>
              <a:t>Favorisce il lavoro in team</a:t>
            </a:r>
          </a:p>
          <a:p>
            <a:r>
              <a:rPr lang="it-IT">
                <a:ea typeface="+mn-lt"/>
                <a:cs typeface="+mn-lt"/>
              </a:rPr>
              <a:t>Ospita repository di codice</a:t>
            </a:r>
          </a:p>
        </p:txBody>
      </p:sp>
    </p:spTree>
    <p:extLst>
      <p:ext uri="{BB962C8B-B14F-4D97-AF65-F5344CB8AC3E}">
        <p14:creationId xmlns:p14="http://schemas.microsoft.com/office/powerpoint/2010/main" val="4079532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E7B8ED5-C1C0-4F28-5BBF-EB953AEE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Repository GitHub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12FA4C-D809-E974-B353-3C96D0903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Archivi digitali di codice sorgente</a:t>
            </a:r>
          </a:p>
          <a:p>
            <a:r>
              <a:rPr lang="it-IT"/>
              <a:t>Consentono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it-IT"/>
              <a:t>Conservare 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it-IT"/>
              <a:t>Gestire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it-IT"/>
              <a:t>Tenere traccia delle modifiche nel tempo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it-IT"/>
              <a:t>Collaborare senza interferenze 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endParaRPr lang="it-IT"/>
          </a:p>
          <a:p>
            <a:pPr marL="228600" lvl="1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9789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60D4E1E-9765-C0C8-EA09-CDD132F0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it-CH">
                <a:solidFill>
                  <a:srgbClr val="FFFFFF"/>
                </a:solidFill>
              </a:rPr>
              <a:t>Gitignore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4EFC07-82E6-0E33-7B06-63430D32E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428" y="2064"/>
            <a:ext cx="6906491" cy="685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it-CH"/>
          </a:p>
          <a:p>
            <a:endParaRPr lang="it-CH"/>
          </a:p>
          <a:p>
            <a:r>
              <a:rPr lang="it-CH"/>
              <a:t>Dice quali file ignorare a </a:t>
            </a:r>
            <a:r>
              <a:rPr lang="it-CH" err="1"/>
              <a:t>Git</a:t>
            </a:r>
            <a:endParaRPr lang="it-CH"/>
          </a:p>
          <a:p>
            <a:r>
              <a:rPr lang="it-CH"/>
              <a:t>Esclude file inutili</a:t>
            </a:r>
          </a:p>
          <a:p>
            <a:r>
              <a:rPr lang="it-CH"/>
              <a:t>Protegge dati sensibili</a:t>
            </a:r>
          </a:p>
          <a:p>
            <a:r>
              <a:rPr lang="it-CH"/>
              <a:t>Facilità nel lavoro</a:t>
            </a:r>
          </a:p>
          <a:p>
            <a:endParaRPr lang="it-CH"/>
          </a:p>
          <a:p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945575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E4D3205-FEE7-0595-66EF-5BDDF2337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99" y="1153572"/>
            <a:ext cx="3417735" cy="4461163"/>
          </a:xfrm>
        </p:spPr>
        <p:txBody>
          <a:bodyPr>
            <a:normAutofit/>
          </a:bodyPr>
          <a:lstStyle/>
          <a:p>
            <a:r>
              <a:rPr lang="fr-CH" sz="3700">
                <a:solidFill>
                  <a:srgbClr val="FFFFFF"/>
                </a:solidFill>
              </a:rPr>
              <a:t>Funzionamento di base</a:t>
            </a:r>
            <a:endParaRPr lang="it-CH" sz="3700">
              <a:solidFill>
                <a:srgbClr val="FFFFFF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98F9B7-C0F1-9B90-A5B5-9ADCB25B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it-CH" sz="2400" i="1" err="1"/>
              <a:t>git</a:t>
            </a:r>
            <a:r>
              <a:rPr lang="it-CH" sz="2400" i="1"/>
              <a:t> clone</a:t>
            </a:r>
            <a:r>
              <a:rPr lang="it-CH" sz="2400"/>
              <a:t> (copiare un repository remoto localmente)</a:t>
            </a:r>
          </a:p>
          <a:p>
            <a:r>
              <a:rPr lang="it-CH" sz="2400" i="1" err="1"/>
              <a:t>git</a:t>
            </a:r>
            <a:r>
              <a:rPr lang="it-CH" sz="2400" i="1"/>
              <a:t> pull </a:t>
            </a:r>
            <a:r>
              <a:rPr lang="it-CH" sz="2400"/>
              <a:t>(scaricare le modifiche da un repository remoto e aggiornare il repository locale)</a:t>
            </a:r>
          </a:p>
          <a:p>
            <a:r>
              <a:rPr lang="it-CH" sz="2400" i="1" err="1"/>
              <a:t>git</a:t>
            </a:r>
            <a:r>
              <a:rPr lang="it-CH" sz="2400" i="1"/>
              <a:t> </a:t>
            </a:r>
            <a:r>
              <a:rPr lang="it-CH" sz="2400" i="1" err="1"/>
              <a:t>push</a:t>
            </a:r>
            <a:r>
              <a:rPr lang="it-CH" sz="2400" i="1"/>
              <a:t> </a:t>
            </a:r>
            <a:r>
              <a:rPr lang="it-CH" sz="2400"/>
              <a:t>(caricare gli snapshot locali su un repository remoto)</a:t>
            </a:r>
          </a:p>
          <a:p>
            <a:r>
              <a:rPr lang="it-CH" sz="2400" i="1" err="1"/>
              <a:t>git</a:t>
            </a:r>
            <a:r>
              <a:rPr lang="it-CH" sz="2400" i="1"/>
              <a:t> </a:t>
            </a:r>
            <a:r>
              <a:rPr lang="it-CH" sz="2400" i="1" err="1"/>
              <a:t>add</a:t>
            </a:r>
            <a:r>
              <a:rPr lang="it-CH" sz="2400" i="1"/>
              <a:t> </a:t>
            </a:r>
            <a:r>
              <a:rPr lang="it-CH" sz="2400"/>
              <a:t>(viene utilizzato per aggiungere le modifiche che hai apportato ai file)</a:t>
            </a:r>
          </a:p>
          <a:p>
            <a:r>
              <a:rPr lang="it-CH" sz="2400"/>
              <a:t>Conflitti di versione (avvengono quando si tenta di unire o sincronizzare file che presentano modifiche in conflitto)</a:t>
            </a:r>
          </a:p>
          <a:p>
            <a:r>
              <a:rPr lang="it-CH" sz="2400"/>
              <a:t>.</a:t>
            </a:r>
            <a:r>
              <a:rPr lang="it-CH" sz="2400" err="1"/>
              <a:t>gitignore</a:t>
            </a:r>
            <a:r>
              <a:rPr lang="it-CH" sz="2400"/>
              <a:t> (Impedisce di inserire file non necessari, come i log o i file generati in fase di esecuzione)</a:t>
            </a:r>
          </a:p>
        </p:txBody>
      </p:sp>
    </p:spTree>
    <p:extLst>
      <p:ext uri="{BB962C8B-B14F-4D97-AF65-F5344CB8AC3E}">
        <p14:creationId xmlns:p14="http://schemas.microsoft.com/office/powerpoint/2010/main" val="453632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9E0F57A-A22A-433E-8138-96F2D564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Impatto di GitHub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AA2F9A-122C-C62B-9F75-5955A8532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Milioni di repository Open Source</a:t>
            </a:r>
          </a:p>
          <a:p>
            <a:r>
              <a:rPr lang="it-IT"/>
              <a:t>Trasparenza e innovazione rapida</a:t>
            </a:r>
          </a:p>
          <a:p>
            <a:r>
              <a:rPr lang="it-IT"/>
              <a:t>Condivisione di conoscenza </a:t>
            </a:r>
          </a:p>
        </p:txBody>
      </p:sp>
    </p:spTree>
    <p:extLst>
      <p:ext uri="{BB962C8B-B14F-4D97-AF65-F5344CB8AC3E}">
        <p14:creationId xmlns:p14="http://schemas.microsoft.com/office/powerpoint/2010/main" val="1440070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90B56DF-B4EF-BA16-BF39-ECB1C0465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65" y="1153572"/>
            <a:ext cx="3763617" cy="4461163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Progetti Open Source famosi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96525F-FB95-5565-A188-9549E2BA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3920" y="2348609"/>
            <a:ext cx="6556594" cy="21566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Visual Studio Code (VS Code) </a:t>
            </a:r>
          </a:p>
          <a:p>
            <a:r>
              <a:rPr lang="it-IT"/>
              <a:t>React</a:t>
            </a:r>
          </a:p>
          <a:p>
            <a:r>
              <a:rPr lang="it-IT"/>
              <a:t>Kernel di Linux </a:t>
            </a:r>
          </a:p>
        </p:txBody>
      </p:sp>
    </p:spTree>
    <p:extLst>
      <p:ext uri="{BB962C8B-B14F-4D97-AF65-F5344CB8AC3E}">
        <p14:creationId xmlns:p14="http://schemas.microsoft.com/office/powerpoint/2010/main" val="934401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7FE6F16-51E5-4BC7-E722-2AF4C8B3C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fr-CH">
                <a:solidFill>
                  <a:srgbClr val="FFFFFF"/>
                </a:solidFill>
              </a:rPr>
              <a:t>Alternative a GitHub</a:t>
            </a:r>
            <a:endParaRPr lang="it-CH">
              <a:solidFill>
                <a:srgbClr val="FFFFFF"/>
              </a:solidFill>
            </a:endParaRP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E7BEB17-1537-AB6F-57E0-D8095C51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fr-CH" err="1"/>
              <a:t>GitLab</a:t>
            </a:r>
            <a:r>
              <a:rPr lang="fr-CH"/>
              <a:t>(2011)</a:t>
            </a:r>
          </a:p>
          <a:p>
            <a:r>
              <a:rPr lang="fr-CH" err="1"/>
              <a:t>Bitbucket</a:t>
            </a:r>
            <a:r>
              <a:rPr lang="fr-CH"/>
              <a:t>(2010)</a:t>
            </a:r>
          </a:p>
          <a:p>
            <a:r>
              <a:rPr lang="fr-CH" err="1"/>
              <a:t>Gitea</a:t>
            </a:r>
            <a:r>
              <a:rPr lang="fr-CH"/>
              <a:t>(2016)</a:t>
            </a:r>
          </a:p>
          <a:p>
            <a:r>
              <a:rPr lang="fr-CH" err="1"/>
              <a:t>GitKraken</a:t>
            </a:r>
            <a:r>
              <a:rPr lang="fr-CH"/>
              <a:t>(2000)</a:t>
            </a:r>
          </a:p>
          <a:p>
            <a:r>
              <a:rPr lang="fr-CH" err="1"/>
              <a:t>BitBucket</a:t>
            </a:r>
            <a:r>
              <a:rPr lang="fr-CH"/>
              <a:t>(2008)</a:t>
            </a:r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521849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002CE-BFAD-F20F-9D6F-14133A3C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B10857-DABA-4887-B94F-56DBC4E5A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90333E4-03E7-A50C-4759-2F0F15BEE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34735E80-674F-7A1C-3466-7C77CD21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fr-CH" err="1">
                <a:solidFill>
                  <a:srgbClr val="FFFFFF"/>
                </a:solidFill>
              </a:rPr>
              <a:t>Riflessioni</a:t>
            </a:r>
            <a:r>
              <a:rPr lang="fr-CH">
                <a:solidFill>
                  <a:srgbClr val="FFFFFF"/>
                </a:solidFill>
              </a:rPr>
              <a:t> </a:t>
            </a:r>
            <a:br>
              <a:rPr lang="fr-CH">
                <a:solidFill>
                  <a:srgbClr val="FFFFFF"/>
                </a:solidFill>
              </a:rPr>
            </a:br>
            <a:r>
              <a:rPr lang="fr-CH" err="1">
                <a:solidFill>
                  <a:srgbClr val="FFFFFF"/>
                </a:solidFill>
              </a:rPr>
              <a:t>Personali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D394888-5C01-49C4-30E1-3DB7A5311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fr-CH" err="1"/>
              <a:t>Accessibile</a:t>
            </a:r>
            <a:r>
              <a:rPr lang="fr-CH"/>
              <a:t> a tutti</a:t>
            </a:r>
            <a:endParaRPr lang="it-IT"/>
          </a:p>
          <a:p>
            <a:r>
              <a:rPr lang="fr-CH"/>
              <a:t>Fondamentale</a:t>
            </a:r>
          </a:p>
        </p:txBody>
      </p:sp>
    </p:spTree>
    <p:extLst>
      <p:ext uri="{BB962C8B-B14F-4D97-AF65-F5344CB8AC3E}">
        <p14:creationId xmlns:p14="http://schemas.microsoft.com/office/powerpoint/2010/main" val="1648037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5" baseType="lpstr">
      <vt:lpstr>Tema di Office</vt:lpstr>
      <vt:lpstr>GitHub e Version Control</vt:lpstr>
      <vt:lpstr>Version Control</vt:lpstr>
      <vt:lpstr>CVS (Concurrent Versions System)</vt:lpstr>
      <vt:lpstr>Subversion</vt:lpstr>
      <vt:lpstr>Mercurial</vt:lpstr>
      <vt:lpstr>Git</vt:lpstr>
      <vt:lpstr>GitHub </vt:lpstr>
      <vt:lpstr>Repository GitHub</vt:lpstr>
      <vt:lpstr>Gitignore</vt:lpstr>
      <vt:lpstr>Funzionamento di base</vt:lpstr>
      <vt:lpstr>Impatto di GitHub </vt:lpstr>
      <vt:lpstr>Progetti Open Source famosi</vt:lpstr>
      <vt:lpstr>Alternative a GitHub</vt:lpstr>
      <vt:lpstr>Riflessioni  Personali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edc972@cpt.local</dc:creator>
  <cp:revision>4</cp:revision>
  <dcterms:created xsi:type="dcterms:W3CDTF">2025-09-05T13:11:07Z</dcterms:created>
  <dcterms:modified xsi:type="dcterms:W3CDTF">2025-09-12T13:03:49Z</dcterms:modified>
</cp:coreProperties>
</file>